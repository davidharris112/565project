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nter SemiBold"/>
      <p:regular r:id="rId15"/>
      <p:bold r:id="rId16"/>
      <p:italic r:id="rId17"/>
      <p:boldItalic r:id="rId18"/>
    </p:embeddedFont>
    <p:embeddedFont>
      <p:font typeface="Average"/>
      <p:regular r:id="rId19"/>
    </p:embeddedFont>
    <p:embeddedFont>
      <p:font typeface="Oswald"/>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swald-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regular.fntdata"/><Relationship Id="rId14" Type="http://schemas.openxmlformats.org/officeDocument/2006/relationships/slide" Target="slides/slide9.xml"/><Relationship Id="rId17" Type="http://schemas.openxmlformats.org/officeDocument/2006/relationships/font" Target="fonts/InterSemiBold-italic.fntdata"/><Relationship Id="rId16" Type="http://schemas.openxmlformats.org/officeDocument/2006/relationships/font" Target="fonts/InterSemiBold-bold.fntdata"/><Relationship Id="rId5" Type="http://schemas.openxmlformats.org/officeDocument/2006/relationships/notesMaster" Target="notesMasters/notesMaster1.xml"/><Relationship Id="rId19" Type="http://schemas.openxmlformats.org/officeDocument/2006/relationships/font" Target="fonts/Average-regular.fntdata"/><Relationship Id="rId6" Type="http://schemas.openxmlformats.org/officeDocument/2006/relationships/slide" Target="slides/slide1.xml"/><Relationship Id="rId18" Type="http://schemas.openxmlformats.org/officeDocument/2006/relationships/font" Target="fonts/InterSemi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9ce132e79_0_1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9ce132e79_0_1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9ce132e79_0_1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9ce132e79_0_1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9ce132e79_0_1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9ce132e79_0_1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9ce132e79_0_1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9ce132e79_0_1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9ce132e79_0_1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9ce132e79_0_1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9ce132e79_0_1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9ce132e79_0_1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9ce132e79_0_1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9ce132e79_0_1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9ce132e79_0_1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9ce132e79_0_1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b8a88357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b8a88357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1">
  <p:cSld name="BLANK_1">
    <p:bg>
      <p:bgPr>
        <a:solidFill>
          <a:schemeClr val="lt1"/>
        </a:solidFill>
      </p:bgPr>
    </p:bg>
    <p:spTree>
      <p:nvGrpSpPr>
        <p:cNvPr id="55" name="Shape 55"/>
        <p:cNvGrpSpPr/>
        <p:nvPr/>
      </p:nvGrpSpPr>
      <p:grpSpPr>
        <a:xfrm>
          <a:off x="0" y="0"/>
          <a:ext cx="0" cy="0"/>
          <a:chOff x="0" y="0"/>
          <a:chExt cx="0" cy="0"/>
        </a:xfrm>
      </p:grpSpPr>
      <p:grpSp>
        <p:nvGrpSpPr>
          <p:cNvPr id="56" name="Google Shape;56;p13"/>
          <p:cNvGrpSpPr/>
          <p:nvPr/>
        </p:nvGrpSpPr>
        <p:grpSpPr>
          <a:xfrm>
            <a:off x="-800" y="-150"/>
            <a:ext cx="9145250" cy="5144250"/>
            <a:chOff x="-800" y="-150"/>
            <a:chExt cx="9145250" cy="5144250"/>
          </a:xfrm>
        </p:grpSpPr>
        <p:cxnSp>
          <p:nvCxnSpPr>
            <p:cNvPr id="57" name="Google Shape;57;p13"/>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58" name="Google Shape;58;p13"/>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9" name="Google Shape;59;p13"/>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60" name="Google Shape;60;p13"/>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61" name="Google Shape;61;p13"/>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2" name="Google Shape;62;p13"/>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3" name="Google Shape;63;p13"/>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64" name="Google Shape;64;p13"/>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65" name="Google Shape;65;p13"/>
          <p:cNvSpPr txBox="1"/>
          <p:nvPr>
            <p:ph idx="1" type="subTitle"/>
          </p:nvPr>
        </p:nvSpPr>
        <p:spPr>
          <a:xfrm>
            <a:off x="521375" y="2782850"/>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66" name="Google Shape;66;p13"/>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67" name="Google Shape;67;p13"/>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68" name="Google Shape;68;p13"/>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3">
    <p:bg>
      <p:bgPr>
        <a:solidFill>
          <a:schemeClr val="lt2"/>
        </a:solidFill>
      </p:bgPr>
    </p:bg>
    <p:spTree>
      <p:nvGrpSpPr>
        <p:cNvPr id="69" name="Shape 69"/>
        <p:cNvGrpSpPr/>
        <p:nvPr/>
      </p:nvGrpSpPr>
      <p:grpSpPr>
        <a:xfrm>
          <a:off x="0" y="0"/>
          <a:ext cx="0" cy="0"/>
          <a:chOff x="0" y="0"/>
          <a:chExt cx="0" cy="0"/>
        </a:xfrm>
      </p:grpSpPr>
      <p:sp>
        <p:nvSpPr>
          <p:cNvPr id="70" name="Google Shape;70;p14"/>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71" name="Google Shape;71;p14"/>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2" name="Google Shape;72;p1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3" name="Google Shape;73;p14"/>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4" name="Google Shape;74;p14"/>
          <p:cNvSpPr txBox="1"/>
          <p:nvPr>
            <p:ph type="title"/>
          </p:nvPr>
        </p:nvSpPr>
        <p:spPr>
          <a:xfrm flipH="1">
            <a:off x="1040775" y="1307575"/>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5" name="Google Shape;75;p14"/>
          <p:cNvSpPr txBox="1"/>
          <p:nvPr>
            <p:ph idx="5" type="title"/>
          </p:nvPr>
        </p:nvSpPr>
        <p:spPr>
          <a:xfrm flipH="1">
            <a:off x="1040775" y="2053325"/>
            <a:ext cx="7581900" cy="7473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6" name="Google Shape;76;p14"/>
          <p:cNvSpPr txBox="1"/>
          <p:nvPr>
            <p:ph idx="6" type="title"/>
          </p:nvPr>
        </p:nvSpPr>
        <p:spPr>
          <a:xfrm flipH="1">
            <a:off x="1040775" y="2800750"/>
            <a:ext cx="7581900" cy="7419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7" name="Google Shape;77;p14"/>
          <p:cNvSpPr txBox="1"/>
          <p:nvPr>
            <p:ph idx="7" type="title"/>
          </p:nvPr>
        </p:nvSpPr>
        <p:spPr>
          <a:xfrm flipH="1">
            <a:off x="1040775" y="3542475"/>
            <a:ext cx="7581900" cy="7551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8" name="Google Shape;78;p14"/>
          <p:cNvSpPr txBox="1"/>
          <p:nvPr>
            <p:ph idx="8" type="title"/>
          </p:nvPr>
        </p:nvSpPr>
        <p:spPr>
          <a:xfrm flipH="1">
            <a:off x="1040775" y="4297600"/>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9" name="Google Shape;79;p14"/>
          <p:cNvSpPr txBox="1"/>
          <p:nvPr>
            <p:ph idx="9" type="title"/>
          </p:nvPr>
        </p:nvSpPr>
        <p:spPr>
          <a:xfrm flipH="1">
            <a:off x="1040775" y="666250"/>
            <a:ext cx="75819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kaggle.com/datasets/amanajmera1/framingham-heart-study-dataset" TargetMode="External"/><Relationship Id="rId4" Type="http://schemas.openxmlformats.org/officeDocument/2006/relationships/hyperlink" Target="https://guysandstthomasspecialistcare.co.uk/news/what-is-coronary-heart-disease/" TargetMode="External"/><Relationship Id="rId5" Type="http://schemas.openxmlformats.org/officeDocument/2006/relationships/hyperlink" Target="https://www.framinghamheartstudy.org/fhs-abou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Average"/>
                <a:ea typeface="Average"/>
                <a:cs typeface="Average"/>
                <a:sym typeface="Average"/>
              </a:rPr>
              <a:t>IME 565 Project</a:t>
            </a:r>
            <a:endParaRPr>
              <a:latin typeface="Average"/>
              <a:ea typeface="Average"/>
              <a:cs typeface="Average"/>
              <a:sym typeface="Average"/>
            </a:endParaRPr>
          </a:p>
        </p:txBody>
      </p:sp>
      <p:sp>
        <p:nvSpPr>
          <p:cNvPr id="85" name="Google Shape;85;p15"/>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solidFill>
                  <a:schemeClr val="dk1"/>
                </a:solidFill>
              </a:rPr>
              <a:t>Coronary Heart Disease Risk Prediction</a:t>
            </a:r>
            <a:endParaRPr sz="2400">
              <a:solidFill>
                <a:schemeClr val="dk1"/>
              </a:solidFill>
            </a:endParaRPr>
          </a:p>
        </p:txBody>
      </p:sp>
      <p:sp>
        <p:nvSpPr>
          <p:cNvPr id="86" name="Google Shape;86;p15"/>
          <p:cNvSpPr txBox="1"/>
          <p:nvPr>
            <p:ph idx="1" type="subTitle"/>
          </p:nvPr>
        </p:nvSpPr>
        <p:spPr>
          <a:xfrm>
            <a:off x="671250" y="39674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David Harris, Hirsh Kedia</a:t>
            </a:r>
            <a:endParaRPr/>
          </a:p>
        </p:txBody>
      </p:sp>
      <p:pic>
        <p:nvPicPr>
          <p:cNvPr id="87" name="Google Shape;87;p15" title="qr-code (4).png"/>
          <p:cNvPicPr preferRelativeResize="0"/>
          <p:nvPr/>
        </p:nvPicPr>
        <p:blipFill>
          <a:blip r:embed="rId3">
            <a:alphaModFix/>
          </a:blip>
          <a:stretch>
            <a:fillRect/>
          </a:stretch>
        </p:blipFill>
        <p:spPr>
          <a:xfrm>
            <a:off x="7555750" y="3573845"/>
            <a:ext cx="1407650" cy="1407624"/>
          </a:xfrm>
          <a:prstGeom prst="rect">
            <a:avLst/>
          </a:prstGeom>
          <a:noFill/>
          <a:ln>
            <a:noFill/>
          </a:ln>
        </p:spPr>
      </p:pic>
      <p:sp>
        <p:nvSpPr>
          <p:cNvPr id="88" name="Google Shape;88;p15"/>
          <p:cNvSpPr txBox="1"/>
          <p:nvPr/>
        </p:nvSpPr>
        <p:spPr>
          <a:xfrm>
            <a:off x="6512200" y="4672775"/>
            <a:ext cx="10125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3"/>
                </a:solidFill>
                <a:latin typeface="Average"/>
                <a:ea typeface="Average"/>
                <a:cs typeface="Average"/>
                <a:sym typeface="Average"/>
              </a:rPr>
              <a:t>Link to app:</a:t>
            </a:r>
            <a:endParaRPr sz="1100">
              <a:solidFill>
                <a:schemeClr val="accent3"/>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idx="1" type="body"/>
          </p:nvPr>
        </p:nvSpPr>
        <p:spPr>
          <a:xfrm>
            <a:off x="220225" y="899300"/>
            <a:ext cx="5859900" cy="40878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b="1" lang="en"/>
              <a:t>Background</a:t>
            </a:r>
            <a:r>
              <a:rPr lang="en"/>
              <a:t>:</a:t>
            </a:r>
            <a:endParaRPr/>
          </a:p>
          <a:p>
            <a:pPr indent="0" lvl="0" marL="0" rtl="0" algn="l">
              <a:spcBef>
                <a:spcPts val="1200"/>
              </a:spcBef>
              <a:spcAft>
                <a:spcPts val="0"/>
              </a:spcAft>
              <a:buNone/>
            </a:pPr>
            <a:r>
              <a:rPr lang="en"/>
              <a:t>C</a:t>
            </a:r>
            <a:r>
              <a:rPr lang="en"/>
              <a:t>oronary heart disease (CHD) is a condition where heart arteries narrow or become blocked by a buildup of plaque. This limits blood flow to the heart muscle, and it can lead to heart attacks and heart failures. </a:t>
            </a:r>
            <a:endParaRPr/>
          </a:p>
          <a:p>
            <a:pPr indent="0" lvl="0" marL="0" rtl="0" algn="l">
              <a:spcBef>
                <a:spcPts val="1200"/>
              </a:spcBef>
              <a:spcAft>
                <a:spcPts val="0"/>
              </a:spcAft>
              <a:buNone/>
            </a:pPr>
            <a:r>
              <a:rPr b="1" lang="en"/>
              <a:t>Problem</a:t>
            </a:r>
            <a:r>
              <a:rPr lang="en"/>
              <a:t>:</a:t>
            </a:r>
            <a:endParaRPr/>
          </a:p>
          <a:p>
            <a:pPr indent="-300037" lvl="0" marL="457200" rtl="0" algn="l">
              <a:spcBef>
                <a:spcPts val="1200"/>
              </a:spcBef>
              <a:spcAft>
                <a:spcPts val="0"/>
              </a:spcAft>
              <a:buSzPct val="100000"/>
              <a:buChar char="●"/>
            </a:pPr>
            <a:r>
              <a:rPr lang="en"/>
              <a:t>Globally: 250,000,000+ people have a CHD</a:t>
            </a:r>
            <a:endParaRPr/>
          </a:p>
          <a:p>
            <a:pPr indent="-300037" lvl="0" marL="457200" rtl="0" algn="l">
              <a:spcBef>
                <a:spcPts val="0"/>
              </a:spcBef>
              <a:spcAft>
                <a:spcPts val="0"/>
              </a:spcAft>
              <a:buSzPct val="100000"/>
              <a:buChar char="●"/>
            </a:pPr>
            <a:r>
              <a:rPr lang="en"/>
              <a:t>USA: 18,200,000 people (1 in 20 for adults 20 years or older)</a:t>
            </a:r>
            <a:endParaRPr/>
          </a:p>
          <a:p>
            <a:pPr indent="-284162" lvl="1" marL="914400" rtl="0" algn="l">
              <a:spcBef>
                <a:spcPts val="0"/>
              </a:spcBef>
              <a:spcAft>
                <a:spcPts val="0"/>
              </a:spcAft>
              <a:buSzPct val="100000"/>
              <a:buChar char="○"/>
            </a:pPr>
            <a:r>
              <a:rPr lang="en"/>
              <a:t>Leading cause of death in USA</a:t>
            </a:r>
            <a:endParaRPr/>
          </a:p>
          <a:p>
            <a:pPr indent="0" lvl="0" marL="0" rtl="0" algn="l">
              <a:spcBef>
                <a:spcPts val="1200"/>
              </a:spcBef>
              <a:spcAft>
                <a:spcPts val="0"/>
              </a:spcAft>
              <a:buNone/>
            </a:pPr>
            <a:r>
              <a:rPr lang="en"/>
              <a:t>More people to need know if they are currently, or will be, at risk of CHD. </a:t>
            </a:r>
            <a:endParaRPr/>
          </a:p>
          <a:p>
            <a:pPr indent="0" lvl="0" marL="0" rtl="0" algn="l">
              <a:spcBef>
                <a:spcPts val="1200"/>
              </a:spcBef>
              <a:spcAft>
                <a:spcPts val="0"/>
              </a:spcAft>
              <a:buNone/>
            </a:pPr>
            <a:r>
              <a:rPr b="1" lang="en"/>
              <a:t>Solution</a:t>
            </a:r>
            <a:r>
              <a:rPr lang="en"/>
              <a:t>:</a:t>
            </a:r>
            <a:endParaRPr/>
          </a:p>
          <a:p>
            <a:pPr indent="-300037" lvl="0" marL="457200" rtl="0" algn="l">
              <a:spcBef>
                <a:spcPts val="1200"/>
              </a:spcBef>
              <a:spcAft>
                <a:spcPts val="0"/>
              </a:spcAft>
              <a:buSzPct val="100000"/>
              <a:buChar char="●"/>
            </a:pPr>
            <a:r>
              <a:rPr lang="en"/>
              <a:t>We developed a</a:t>
            </a:r>
            <a:r>
              <a:rPr lang="en"/>
              <a:t> Heart Disease Risk Estimator designed to help users assess their likelihood of developing CHD within the next 10 years</a:t>
            </a:r>
            <a:endParaRPr/>
          </a:p>
          <a:p>
            <a:pPr indent="-300037" lvl="0" marL="457200" rtl="0" algn="l">
              <a:spcBef>
                <a:spcPts val="0"/>
              </a:spcBef>
              <a:spcAft>
                <a:spcPts val="0"/>
              </a:spcAft>
              <a:buSzPct val="100000"/>
              <a:buChar char="●"/>
            </a:pPr>
            <a:r>
              <a:rPr lang="en"/>
              <a:t>Users input personal health and lifestyle information, such as age, gender, smoking habits, medical history, and body measurements, and the application generates a personalized risk prediction</a:t>
            </a:r>
            <a:endParaRPr/>
          </a:p>
          <a:p>
            <a:pPr indent="-300037" lvl="0" marL="457200" rtl="0" algn="l">
              <a:spcBef>
                <a:spcPts val="0"/>
              </a:spcBef>
              <a:spcAft>
                <a:spcPts val="0"/>
              </a:spcAft>
              <a:buSzPct val="100000"/>
              <a:buChar char="●"/>
            </a:pPr>
            <a:r>
              <a:rPr lang="en"/>
              <a:t>NOTE: This is not professional medical advice, just a tool that might be helpful</a:t>
            </a:r>
            <a:endParaRPr/>
          </a:p>
        </p:txBody>
      </p:sp>
      <p:sp>
        <p:nvSpPr>
          <p:cNvPr id="94" name="Google Shape;94;p16"/>
          <p:cNvSpPr txBox="1"/>
          <p:nvPr>
            <p:ph type="title"/>
          </p:nvPr>
        </p:nvSpPr>
        <p:spPr>
          <a:xfrm>
            <a:off x="311700" y="191851"/>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Background and Problem Statement</a:t>
            </a:r>
            <a:endParaRPr/>
          </a:p>
          <a:p>
            <a:pPr indent="0" lvl="0" marL="0" rtl="0" algn="l">
              <a:spcBef>
                <a:spcPts val="0"/>
              </a:spcBef>
              <a:spcAft>
                <a:spcPts val="0"/>
              </a:spcAft>
              <a:buNone/>
            </a:pPr>
            <a:r>
              <a:t/>
            </a:r>
            <a:endParaRPr/>
          </a:p>
        </p:txBody>
      </p:sp>
      <p:pic>
        <p:nvPicPr>
          <p:cNvPr id="95" name="Google Shape;95;p16"/>
          <p:cNvPicPr preferRelativeResize="0"/>
          <p:nvPr/>
        </p:nvPicPr>
        <p:blipFill>
          <a:blip r:embed="rId3">
            <a:alphaModFix/>
          </a:blip>
          <a:stretch>
            <a:fillRect/>
          </a:stretch>
        </p:blipFill>
        <p:spPr>
          <a:xfrm>
            <a:off x="6166875" y="971550"/>
            <a:ext cx="2857500" cy="1600200"/>
          </a:xfrm>
          <a:prstGeom prst="rect">
            <a:avLst/>
          </a:prstGeom>
          <a:noFill/>
          <a:ln>
            <a:noFill/>
          </a:ln>
        </p:spPr>
      </p:pic>
      <p:pic>
        <p:nvPicPr>
          <p:cNvPr id="96" name="Google Shape;96;p16"/>
          <p:cNvPicPr preferRelativeResize="0"/>
          <p:nvPr/>
        </p:nvPicPr>
        <p:blipFill>
          <a:blip r:embed="rId4">
            <a:alphaModFix/>
          </a:blip>
          <a:stretch>
            <a:fillRect/>
          </a:stretch>
        </p:blipFill>
        <p:spPr>
          <a:xfrm>
            <a:off x="6232525" y="2724150"/>
            <a:ext cx="2390775" cy="1905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 Description, Preprocessing, Visualization</a:t>
            </a:r>
            <a:endParaRPr/>
          </a:p>
          <a:p>
            <a:pPr indent="0" lvl="0" marL="0" rtl="0" algn="l">
              <a:spcBef>
                <a:spcPts val="0"/>
              </a:spcBef>
              <a:spcAft>
                <a:spcPts val="0"/>
              </a:spcAft>
              <a:buNone/>
            </a:pPr>
            <a:r>
              <a:t/>
            </a:r>
            <a:endParaRPr/>
          </a:p>
        </p:txBody>
      </p:sp>
      <p:sp>
        <p:nvSpPr>
          <p:cNvPr id="102" name="Google Shape;102;p17"/>
          <p:cNvSpPr txBox="1"/>
          <p:nvPr>
            <p:ph idx="1" type="body"/>
          </p:nvPr>
        </p:nvSpPr>
        <p:spPr>
          <a:xfrm>
            <a:off x="311700" y="1152475"/>
            <a:ext cx="8520600" cy="3741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Dataset is from the Framingham Heart Study:</a:t>
            </a:r>
            <a:endParaRPr/>
          </a:p>
          <a:p>
            <a:pPr indent="-317500" lvl="1" marL="914400" rtl="0" algn="l">
              <a:spcBef>
                <a:spcPts val="0"/>
              </a:spcBef>
              <a:spcAft>
                <a:spcPts val="0"/>
              </a:spcAft>
              <a:buSzPts val="1400"/>
              <a:buChar char="○"/>
            </a:pPr>
            <a:r>
              <a:rPr lang="en"/>
              <a:t>Over 5,000 original patients</a:t>
            </a:r>
            <a:endParaRPr/>
          </a:p>
          <a:p>
            <a:pPr indent="-317500" lvl="1" marL="914400" rtl="0" algn="l">
              <a:spcBef>
                <a:spcPts val="0"/>
              </a:spcBef>
              <a:spcAft>
                <a:spcPts val="0"/>
              </a:spcAft>
              <a:buSzPts val="1400"/>
              <a:buChar char="○"/>
            </a:pPr>
            <a:r>
              <a:rPr lang="en"/>
              <a:t>Founded and ongoing since 1948</a:t>
            </a:r>
            <a:endParaRPr/>
          </a:p>
          <a:p>
            <a:pPr indent="-342900" lvl="0" marL="457200" rtl="0" algn="l">
              <a:spcBef>
                <a:spcPts val="0"/>
              </a:spcBef>
              <a:spcAft>
                <a:spcPts val="0"/>
              </a:spcAft>
              <a:buSzPts val="1800"/>
              <a:buChar char="●"/>
            </a:pPr>
            <a:r>
              <a:rPr lang="en"/>
              <a:t>Our specific subset of that data was from Kaggle</a:t>
            </a:r>
            <a:endParaRPr/>
          </a:p>
          <a:p>
            <a:pPr indent="-317500" lvl="1" marL="914400" rtl="0" algn="l">
              <a:spcBef>
                <a:spcPts val="0"/>
              </a:spcBef>
              <a:spcAft>
                <a:spcPts val="0"/>
              </a:spcAft>
              <a:buSzPts val="1400"/>
              <a:buChar char="○"/>
            </a:pPr>
            <a:r>
              <a:rPr lang="en"/>
              <a:t>Necessary preprocessing was minimal</a:t>
            </a:r>
            <a:endParaRPr/>
          </a:p>
          <a:p>
            <a:pPr indent="-342900" lvl="0" marL="457200" rtl="0" algn="l">
              <a:spcBef>
                <a:spcPts val="0"/>
              </a:spcBef>
              <a:spcAft>
                <a:spcPts val="0"/>
              </a:spcAft>
              <a:buSzPts val="1800"/>
              <a:buChar char="●"/>
            </a:pPr>
            <a:r>
              <a:rPr lang="en"/>
              <a:t>Working data set included ~3600 samples</a:t>
            </a:r>
            <a:endParaRPr/>
          </a:p>
          <a:p>
            <a:pPr indent="-317500" lvl="1" marL="914400" rtl="0" algn="l">
              <a:spcBef>
                <a:spcPts val="0"/>
              </a:spcBef>
              <a:spcAft>
                <a:spcPts val="0"/>
              </a:spcAft>
              <a:buSzPts val="1400"/>
              <a:buChar char="○"/>
            </a:pPr>
            <a:r>
              <a:rPr lang="en"/>
              <a:t> 15.2% were classified as at risk</a:t>
            </a:r>
            <a:endParaRPr/>
          </a:p>
          <a:p>
            <a:pPr indent="-317500" lvl="1" marL="914400" rtl="0" algn="l">
              <a:spcBef>
                <a:spcPts val="0"/>
              </a:spcBef>
              <a:spcAft>
                <a:spcPts val="0"/>
              </a:spcAft>
              <a:buSzPts val="1400"/>
              <a:buChar char="○"/>
            </a:pPr>
            <a:r>
              <a:rPr lang="en"/>
              <a:t>84.8% were classified as not at risk</a:t>
            </a:r>
            <a:endParaRPr/>
          </a:p>
        </p:txBody>
      </p:sp>
      <p:pic>
        <p:nvPicPr>
          <p:cNvPr id="103" name="Google Shape;103;p17" title="Screenshot 2025-11-29 at 9.53.07 PM.png"/>
          <p:cNvPicPr preferRelativeResize="0"/>
          <p:nvPr/>
        </p:nvPicPr>
        <p:blipFill>
          <a:blip r:embed="rId3">
            <a:alphaModFix/>
          </a:blip>
          <a:stretch>
            <a:fillRect/>
          </a:stretch>
        </p:blipFill>
        <p:spPr>
          <a:xfrm>
            <a:off x="4462225" y="3120375"/>
            <a:ext cx="4681774" cy="2023125"/>
          </a:xfrm>
          <a:prstGeom prst="rect">
            <a:avLst/>
          </a:prstGeom>
          <a:noFill/>
          <a:ln>
            <a:noFill/>
          </a:ln>
        </p:spPr>
      </p:pic>
      <p:sp>
        <p:nvSpPr>
          <p:cNvPr id="104" name="Google Shape;104;p17"/>
          <p:cNvSpPr txBox="1"/>
          <p:nvPr/>
        </p:nvSpPr>
        <p:spPr>
          <a:xfrm>
            <a:off x="1356325" y="4853400"/>
            <a:ext cx="3105900" cy="2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3"/>
                </a:solidFill>
                <a:latin typeface="Average"/>
                <a:ea typeface="Average"/>
                <a:cs typeface="Average"/>
                <a:sym typeface="Average"/>
              </a:rPr>
              <a:t>Milestone Timeline for Framingham Heart Study</a:t>
            </a:r>
            <a:endParaRPr sz="1100">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11700" y="445025"/>
            <a:ext cx="4167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Prediction Modeling</a:t>
            </a:r>
            <a:endParaRPr/>
          </a:p>
          <a:p>
            <a:pPr indent="0" lvl="0" marL="0" rtl="0" algn="l">
              <a:spcBef>
                <a:spcPts val="0"/>
              </a:spcBef>
              <a:spcAft>
                <a:spcPts val="0"/>
              </a:spcAft>
              <a:buNone/>
            </a:pPr>
            <a:r>
              <a:t/>
            </a:r>
            <a:endParaRPr/>
          </a:p>
        </p:txBody>
      </p:sp>
      <p:sp>
        <p:nvSpPr>
          <p:cNvPr id="110" name="Google Shape;110;p18"/>
          <p:cNvSpPr txBox="1"/>
          <p:nvPr>
            <p:ph idx="1" type="body"/>
          </p:nvPr>
        </p:nvSpPr>
        <p:spPr>
          <a:xfrm>
            <a:off x="311700" y="1152475"/>
            <a:ext cx="35301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Decision Tree</a:t>
            </a:r>
            <a:endParaRPr/>
          </a:p>
          <a:p>
            <a:pPr indent="-342900" lvl="0" marL="457200" rtl="0" algn="l">
              <a:spcBef>
                <a:spcPts val="0"/>
              </a:spcBef>
              <a:spcAft>
                <a:spcPts val="0"/>
              </a:spcAft>
              <a:buSzPts val="1800"/>
              <a:buChar char="●"/>
            </a:pPr>
            <a:r>
              <a:rPr lang="en"/>
              <a:t>AdaBoost</a:t>
            </a:r>
            <a:endParaRPr/>
          </a:p>
          <a:p>
            <a:pPr indent="-342900" lvl="0" marL="457200" rtl="0" algn="l">
              <a:spcBef>
                <a:spcPts val="0"/>
              </a:spcBef>
              <a:spcAft>
                <a:spcPts val="0"/>
              </a:spcAft>
              <a:buSzPts val="1800"/>
              <a:buChar char="●"/>
            </a:pPr>
            <a:r>
              <a:rPr lang="en"/>
              <a:t>SoftVoting Classifier</a:t>
            </a:r>
            <a:endParaRPr/>
          </a:p>
          <a:p>
            <a:pPr indent="-317500" lvl="1" marL="914400" rtl="0" algn="l">
              <a:spcBef>
                <a:spcPts val="0"/>
              </a:spcBef>
              <a:spcAft>
                <a:spcPts val="0"/>
              </a:spcAft>
              <a:buSzPts val="1400"/>
              <a:buChar char="○"/>
            </a:pPr>
            <a:r>
              <a:rPr lang="en"/>
              <a:t>Random Forest</a:t>
            </a:r>
            <a:endParaRPr/>
          </a:p>
          <a:p>
            <a:pPr indent="-317500" lvl="1" marL="914400" rtl="0" algn="l">
              <a:spcBef>
                <a:spcPts val="0"/>
              </a:spcBef>
              <a:spcAft>
                <a:spcPts val="0"/>
              </a:spcAft>
              <a:buSzPts val="1400"/>
              <a:buChar char="○"/>
            </a:pPr>
            <a:r>
              <a:rPr lang="en"/>
              <a:t>Decision Tree</a:t>
            </a:r>
            <a:endParaRPr/>
          </a:p>
          <a:p>
            <a:pPr indent="-317500" lvl="1" marL="914400" rtl="0" algn="l">
              <a:spcBef>
                <a:spcPts val="0"/>
              </a:spcBef>
              <a:spcAft>
                <a:spcPts val="0"/>
              </a:spcAft>
              <a:buSzPts val="1400"/>
              <a:buChar char="○"/>
            </a:pPr>
            <a:r>
              <a:rPr lang="en"/>
              <a:t>AdaBoost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	</a:t>
            </a:r>
            <a:endParaRPr/>
          </a:p>
          <a:p>
            <a:pPr indent="0" lvl="0" marL="0" rtl="0" algn="l">
              <a:spcBef>
                <a:spcPts val="1200"/>
              </a:spcBef>
              <a:spcAft>
                <a:spcPts val="1200"/>
              </a:spcAft>
              <a:buNone/>
            </a:pPr>
            <a:r>
              <a:t/>
            </a:r>
            <a:endParaRPr/>
          </a:p>
        </p:txBody>
      </p:sp>
      <p:pic>
        <p:nvPicPr>
          <p:cNvPr id="111" name="Google Shape;111;p18" title="confusionMat_dt (1).png"/>
          <p:cNvPicPr preferRelativeResize="0"/>
          <p:nvPr/>
        </p:nvPicPr>
        <p:blipFill>
          <a:blip r:embed="rId3">
            <a:alphaModFix/>
          </a:blip>
          <a:stretch>
            <a:fillRect/>
          </a:stretch>
        </p:blipFill>
        <p:spPr>
          <a:xfrm>
            <a:off x="7216350" y="186987"/>
            <a:ext cx="1656050" cy="1521775"/>
          </a:xfrm>
          <a:prstGeom prst="rect">
            <a:avLst/>
          </a:prstGeom>
          <a:noFill/>
          <a:ln>
            <a:noFill/>
          </a:ln>
        </p:spPr>
      </p:pic>
      <p:sp>
        <p:nvSpPr>
          <p:cNvPr id="112" name="Google Shape;112;p18"/>
          <p:cNvSpPr txBox="1"/>
          <p:nvPr/>
        </p:nvSpPr>
        <p:spPr>
          <a:xfrm>
            <a:off x="5755425" y="640075"/>
            <a:ext cx="113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3"/>
                </a:solidFill>
                <a:latin typeface="Average"/>
                <a:ea typeface="Average"/>
                <a:cs typeface="Average"/>
                <a:sym typeface="Average"/>
              </a:rPr>
              <a:t>Decision</a:t>
            </a:r>
            <a:endParaRPr>
              <a:solidFill>
                <a:schemeClr val="accent3"/>
              </a:solidFill>
              <a:latin typeface="Average"/>
              <a:ea typeface="Average"/>
              <a:cs typeface="Average"/>
              <a:sym typeface="Average"/>
            </a:endParaRPr>
          </a:p>
          <a:p>
            <a:pPr indent="0" lvl="0" marL="0" rtl="0" algn="l">
              <a:spcBef>
                <a:spcPts val="0"/>
              </a:spcBef>
              <a:spcAft>
                <a:spcPts val="0"/>
              </a:spcAft>
              <a:buNone/>
            </a:pPr>
            <a:r>
              <a:rPr lang="en">
                <a:solidFill>
                  <a:schemeClr val="accent3"/>
                </a:solidFill>
                <a:latin typeface="Average"/>
                <a:ea typeface="Average"/>
                <a:cs typeface="Average"/>
                <a:sym typeface="Average"/>
              </a:rPr>
              <a:t>Tree</a:t>
            </a:r>
            <a:endParaRPr>
              <a:solidFill>
                <a:schemeClr val="accent3"/>
              </a:solidFill>
              <a:latin typeface="Average"/>
              <a:ea typeface="Average"/>
              <a:cs typeface="Average"/>
              <a:sym typeface="Average"/>
            </a:endParaRPr>
          </a:p>
        </p:txBody>
      </p:sp>
      <p:sp>
        <p:nvSpPr>
          <p:cNvPr id="113" name="Google Shape;113;p18"/>
          <p:cNvSpPr txBox="1"/>
          <p:nvPr/>
        </p:nvSpPr>
        <p:spPr>
          <a:xfrm>
            <a:off x="5755425" y="2360513"/>
            <a:ext cx="113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3"/>
                </a:solidFill>
                <a:latin typeface="Average"/>
                <a:ea typeface="Average"/>
                <a:cs typeface="Average"/>
                <a:sym typeface="Average"/>
              </a:rPr>
              <a:t>AdaBoost</a:t>
            </a:r>
            <a:endParaRPr>
              <a:solidFill>
                <a:schemeClr val="accent3"/>
              </a:solidFill>
              <a:latin typeface="Average"/>
              <a:ea typeface="Average"/>
              <a:cs typeface="Average"/>
              <a:sym typeface="Average"/>
            </a:endParaRPr>
          </a:p>
        </p:txBody>
      </p:sp>
      <p:sp>
        <p:nvSpPr>
          <p:cNvPr id="114" name="Google Shape;114;p18"/>
          <p:cNvSpPr txBox="1"/>
          <p:nvPr/>
        </p:nvSpPr>
        <p:spPr>
          <a:xfrm>
            <a:off x="5755425" y="3890550"/>
            <a:ext cx="113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3"/>
                </a:solidFill>
                <a:latin typeface="Average"/>
                <a:ea typeface="Average"/>
                <a:cs typeface="Average"/>
                <a:sym typeface="Average"/>
              </a:rPr>
              <a:t>SoftVoting</a:t>
            </a:r>
            <a:endParaRPr>
              <a:solidFill>
                <a:schemeClr val="accent3"/>
              </a:solidFill>
              <a:latin typeface="Average"/>
              <a:ea typeface="Average"/>
              <a:cs typeface="Average"/>
              <a:sym typeface="Average"/>
            </a:endParaRPr>
          </a:p>
          <a:p>
            <a:pPr indent="0" lvl="0" marL="0" rtl="0" algn="l">
              <a:spcBef>
                <a:spcPts val="0"/>
              </a:spcBef>
              <a:spcAft>
                <a:spcPts val="0"/>
              </a:spcAft>
              <a:buNone/>
            </a:pPr>
            <a:r>
              <a:rPr lang="en">
                <a:solidFill>
                  <a:schemeClr val="accent3"/>
                </a:solidFill>
                <a:latin typeface="Average"/>
                <a:ea typeface="Average"/>
                <a:cs typeface="Average"/>
                <a:sym typeface="Average"/>
              </a:rPr>
              <a:t>Classifier</a:t>
            </a:r>
            <a:endParaRPr>
              <a:solidFill>
                <a:schemeClr val="accent3"/>
              </a:solidFill>
              <a:latin typeface="Average"/>
              <a:ea typeface="Average"/>
              <a:cs typeface="Average"/>
              <a:sym typeface="Average"/>
            </a:endParaRPr>
          </a:p>
        </p:txBody>
      </p:sp>
      <p:pic>
        <p:nvPicPr>
          <p:cNvPr id="115" name="Google Shape;115;p18" title="confusionMat_Ada (1).png"/>
          <p:cNvPicPr preferRelativeResize="0"/>
          <p:nvPr/>
        </p:nvPicPr>
        <p:blipFill>
          <a:blip r:embed="rId4">
            <a:alphaModFix/>
          </a:blip>
          <a:stretch>
            <a:fillRect/>
          </a:stretch>
        </p:blipFill>
        <p:spPr>
          <a:xfrm>
            <a:off x="7216350" y="1813588"/>
            <a:ext cx="1656050" cy="1521769"/>
          </a:xfrm>
          <a:prstGeom prst="rect">
            <a:avLst/>
          </a:prstGeom>
          <a:noFill/>
          <a:ln>
            <a:noFill/>
          </a:ln>
        </p:spPr>
      </p:pic>
      <p:pic>
        <p:nvPicPr>
          <p:cNvPr id="116" name="Google Shape;116;p18" title="confusionMat_sv (1).png"/>
          <p:cNvPicPr preferRelativeResize="0"/>
          <p:nvPr/>
        </p:nvPicPr>
        <p:blipFill>
          <a:blip r:embed="rId5">
            <a:alphaModFix/>
          </a:blip>
          <a:stretch>
            <a:fillRect/>
          </a:stretch>
        </p:blipFill>
        <p:spPr>
          <a:xfrm>
            <a:off x="7216350" y="3440187"/>
            <a:ext cx="1656050" cy="15163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Results</a:t>
            </a:r>
            <a:endParaRPr/>
          </a:p>
        </p:txBody>
      </p:sp>
      <p:sp>
        <p:nvSpPr>
          <p:cNvPr id="122" name="Google Shape;122;p19"/>
          <p:cNvSpPr txBox="1"/>
          <p:nvPr>
            <p:ph idx="1" type="body"/>
          </p:nvPr>
        </p:nvSpPr>
        <p:spPr>
          <a:xfrm>
            <a:off x="311700" y="1389600"/>
            <a:ext cx="3450600" cy="3179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Most important features:</a:t>
            </a:r>
            <a:endParaRPr sz="1800"/>
          </a:p>
          <a:p>
            <a:pPr indent="-317500" lvl="1" marL="914400" rtl="0" algn="l">
              <a:spcBef>
                <a:spcPts val="0"/>
              </a:spcBef>
              <a:spcAft>
                <a:spcPts val="0"/>
              </a:spcAft>
              <a:buSzPts val="1400"/>
              <a:buChar char="○"/>
            </a:pPr>
            <a:r>
              <a:rPr lang="en" sz="1400"/>
              <a:t>Blood pressure</a:t>
            </a:r>
            <a:endParaRPr sz="1400"/>
          </a:p>
          <a:p>
            <a:pPr indent="-317500" lvl="1" marL="914400" rtl="0" algn="l">
              <a:spcBef>
                <a:spcPts val="0"/>
              </a:spcBef>
              <a:spcAft>
                <a:spcPts val="0"/>
              </a:spcAft>
              <a:buSzPts val="1400"/>
              <a:buChar char="○"/>
            </a:pPr>
            <a:r>
              <a:rPr lang="en" sz="1400"/>
              <a:t>Cholesterol</a:t>
            </a:r>
            <a:endParaRPr sz="1400"/>
          </a:p>
          <a:p>
            <a:pPr indent="-317500" lvl="1" marL="914400" rtl="0" algn="l">
              <a:spcBef>
                <a:spcPts val="0"/>
              </a:spcBef>
              <a:spcAft>
                <a:spcPts val="0"/>
              </a:spcAft>
              <a:buSzPts val="1400"/>
              <a:buChar char="○"/>
            </a:pPr>
            <a:r>
              <a:rPr lang="en" sz="1400"/>
              <a:t>BMI</a:t>
            </a:r>
            <a:endParaRPr sz="1400"/>
          </a:p>
          <a:p>
            <a:pPr indent="-317500" lvl="1" marL="914400" rtl="0" algn="l">
              <a:spcBef>
                <a:spcPts val="0"/>
              </a:spcBef>
              <a:spcAft>
                <a:spcPts val="0"/>
              </a:spcAft>
              <a:buSzPts val="1400"/>
              <a:buChar char="○"/>
            </a:pPr>
            <a:r>
              <a:rPr lang="en" sz="1400"/>
              <a:t>Glucose</a:t>
            </a:r>
            <a:endParaRPr sz="1400"/>
          </a:p>
          <a:p>
            <a:pPr indent="-317500" lvl="1" marL="914400" rtl="0" algn="l">
              <a:spcBef>
                <a:spcPts val="0"/>
              </a:spcBef>
              <a:spcAft>
                <a:spcPts val="0"/>
              </a:spcAft>
              <a:buSzPts val="1400"/>
              <a:buChar char="○"/>
            </a:pPr>
            <a:r>
              <a:rPr lang="en" sz="1400"/>
              <a:t>Age</a:t>
            </a:r>
            <a:endParaRPr sz="1400"/>
          </a:p>
        </p:txBody>
      </p:sp>
      <p:pic>
        <p:nvPicPr>
          <p:cNvPr id="123" name="Google Shape;123;p19" title="feature_imp_SV.png"/>
          <p:cNvPicPr preferRelativeResize="0"/>
          <p:nvPr/>
        </p:nvPicPr>
        <p:blipFill rotWithShape="1">
          <a:blip r:embed="rId3">
            <a:alphaModFix/>
          </a:blip>
          <a:srcRect b="7094" l="0" r="0" t="7325"/>
          <a:stretch/>
        </p:blipFill>
        <p:spPr>
          <a:xfrm>
            <a:off x="5326700" y="3429864"/>
            <a:ext cx="3642950" cy="1530161"/>
          </a:xfrm>
          <a:prstGeom prst="rect">
            <a:avLst/>
          </a:prstGeom>
          <a:noFill/>
          <a:ln>
            <a:noFill/>
          </a:ln>
        </p:spPr>
      </p:pic>
      <p:pic>
        <p:nvPicPr>
          <p:cNvPr id="124" name="Google Shape;124;p19" title="feature_imp_Ada.png"/>
          <p:cNvPicPr preferRelativeResize="0"/>
          <p:nvPr/>
        </p:nvPicPr>
        <p:blipFill rotWithShape="1">
          <a:blip r:embed="rId4">
            <a:alphaModFix/>
          </a:blip>
          <a:srcRect b="8233" l="0" r="0" t="7754"/>
          <a:stretch/>
        </p:blipFill>
        <p:spPr>
          <a:xfrm>
            <a:off x="5326700" y="1834184"/>
            <a:ext cx="3642950" cy="1530161"/>
          </a:xfrm>
          <a:prstGeom prst="rect">
            <a:avLst/>
          </a:prstGeom>
          <a:noFill/>
          <a:ln>
            <a:noFill/>
          </a:ln>
        </p:spPr>
      </p:pic>
      <p:pic>
        <p:nvPicPr>
          <p:cNvPr id="125" name="Google Shape;125;p19" title="feature_imp_dt.png"/>
          <p:cNvPicPr preferRelativeResize="0"/>
          <p:nvPr/>
        </p:nvPicPr>
        <p:blipFill rotWithShape="1">
          <a:blip r:embed="rId5">
            <a:alphaModFix/>
          </a:blip>
          <a:srcRect b="7901" l="0" r="1332" t="7766"/>
          <a:stretch/>
        </p:blipFill>
        <p:spPr>
          <a:xfrm>
            <a:off x="5326700" y="183475"/>
            <a:ext cx="3642950" cy="1556938"/>
          </a:xfrm>
          <a:prstGeom prst="rect">
            <a:avLst/>
          </a:prstGeom>
          <a:noFill/>
          <a:ln>
            <a:noFill/>
          </a:ln>
        </p:spPr>
      </p:pic>
      <p:sp>
        <p:nvSpPr>
          <p:cNvPr id="126" name="Google Shape;126;p19"/>
          <p:cNvSpPr txBox="1"/>
          <p:nvPr/>
        </p:nvSpPr>
        <p:spPr>
          <a:xfrm>
            <a:off x="4052075" y="654150"/>
            <a:ext cx="113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3"/>
                </a:solidFill>
                <a:latin typeface="Average"/>
                <a:ea typeface="Average"/>
                <a:cs typeface="Average"/>
                <a:sym typeface="Average"/>
              </a:rPr>
              <a:t>Decision</a:t>
            </a:r>
            <a:endParaRPr>
              <a:solidFill>
                <a:schemeClr val="accent3"/>
              </a:solidFill>
              <a:latin typeface="Average"/>
              <a:ea typeface="Average"/>
              <a:cs typeface="Average"/>
              <a:sym typeface="Average"/>
            </a:endParaRPr>
          </a:p>
          <a:p>
            <a:pPr indent="0" lvl="0" marL="0" rtl="0" algn="l">
              <a:spcBef>
                <a:spcPts val="0"/>
              </a:spcBef>
              <a:spcAft>
                <a:spcPts val="0"/>
              </a:spcAft>
              <a:buNone/>
            </a:pPr>
            <a:r>
              <a:rPr lang="en">
                <a:solidFill>
                  <a:schemeClr val="accent3"/>
                </a:solidFill>
                <a:latin typeface="Average"/>
                <a:ea typeface="Average"/>
                <a:cs typeface="Average"/>
                <a:sym typeface="Average"/>
              </a:rPr>
              <a:t>Tree</a:t>
            </a:r>
            <a:endParaRPr>
              <a:solidFill>
                <a:schemeClr val="accent3"/>
              </a:solidFill>
              <a:latin typeface="Average"/>
              <a:ea typeface="Average"/>
              <a:cs typeface="Average"/>
              <a:sym typeface="Average"/>
            </a:endParaRPr>
          </a:p>
        </p:txBody>
      </p:sp>
      <p:sp>
        <p:nvSpPr>
          <p:cNvPr id="127" name="Google Shape;127;p19"/>
          <p:cNvSpPr txBox="1"/>
          <p:nvPr/>
        </p:nvSpPr>
        <p:spPr>
          <a:xfrm>
            <a:off x="4004100" y="2346850"/>
            <a:ext cx="113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3"/>
                </a:solidFill>
                <a:latin typeface="Average"/>
                <a:ea typeface="Average"/>
                <a:cs typeface="Average"/>
                <a:sym typeface="Average"/>
              </a:rPr>
              <a:t>AdaBoost</a:t>
            </a:r>
            <a:endParaRPr>
              <a:solidFill>
                <a:schemeClr val="accent3"/>
              </a:solidFill>
              <a:latin typeface="Average"/>
              <a:ea typeface="Average"/>
              <a:cs typeface="Average"/>
              <a:sym typeface="Average"/>
            </a:endParaRPr>
          </a:p>
        </p:txBody>
      </p:sp>
      <p:sp>
        <p:nvSpPr>
          <p:cNvPr id="128" name="Google Shape;128;p19"/>
          <p:cNvSpPr txBox="1"/>
          <p:nvPr/>
        </p:nvSpPr>
        <p:spPr>
          <a:xfrm>
            <a:off x="4052075" y="3824150"/>
            <a:ext cx="113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3"/>
                </a:solidFill>
                <a:latin typeface="Average"/>
                <a:ea typeface="Average"/>
                <a:cs typeface="Average"/>
                <a:sym typeface="Average"/>
              </a:rPr>
              <a:t>SoftVoting</a:t>
            </a:r>
            <a:endParaRPr>
              <a:solidFill>
                <a:schemeClr val="accent3"/>
              </a:solidFill>
              <a:latin typeface="Average"/>
              <a:ea typeface="Average"/>
              <a:cs typeface="Average"/>
              <a:sym typeface="Average"/>
            </a:endParaRPr>
          </a:p>
          <a:p>
            <a:pPr indent="0" lvl="0" marL="0" rtl="0" algn="l">
              <a:spcBef>
                <a:spcPts val="0"/>
              </a:spcBef>
              <a:spcAft>
                <a:spcPts val="0"/>
              </a:spcAft>
              <a:buNone/>
            </a:pPr>
            <a:r>
              <a:rPr lang="en">
                <a:solidFill>
                  <a:schemeClr val="accent3"/>
                </a:solidFill>
                <a:latin typeface="Average"/>
                <a:ea typeface="Average"/>
                <a:cs typeface="Average"/>
                <a:sym typeface="Average"/>
              </a:rPr>
              <a:t>Classifier</a:t>
            </a:r>
            <a:endParaRPr>
              <a:solidFill>
                <a:schemeClr val="accent3"/>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Ethical Considerations, Limitations, Future Extensions</a:t>
            </a:r>
            <a:endParaRPr/>
          </a:p>
          <a:p>
            <a:pPr indent="0" lvl="0" marL="0" rtl="0" algn="l">
              <a:spcBef>
                <a:spcPts val="0"/>
              </a:spcBef>
              <a:spcAft>
                <a:spcPts val="0"/>
              </a:spcAft>
              <a:buNone/>
            </a:pPr>
            <a:r>
              <a:t/>
            </a:r>
            <a:endParaRPr/>
          </a:p>
        </p:txBody>
      </p:sp>
      <p:sp>
        <p:nvSpPr>
          <p:cNvPr id="134" name="Google Shape;134;p20"/>
          <p:cNvSpPr txBox="1"/>
          <p:nvPr>
            <p:ph idx="1" type="body"/>
          </p:nvPr>
        </p:nvSpPr>
        <p:spPr>
          <a:xfrm>
            <a:off x="311700" y="1152475"/>
            <a:ext cx="8520600" cy="3797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Ethical:</a:t>
            </a:r>
            <a:endParaRPr/>
          </a:p>
          <a:p>
            <a:pPr indent="-325755" lvl="0" marL="457200" rtl="0" algn="l">
              <a:spcBef>
                <a:spcPts val="1200"/>
              </a:spcBef>
              <a:spcAft>
                <a:spcPts val="0"/>
              </a:spcAft>
              <a:buSzPct val="100000"/>
              <a:buChar char="●"/>
            </a:pPr>
            <a:r>
              <a:rPr lang="en"/>
              <a:t>Need to </a:t>
            </a:r>
            <a:r>
              <a:rPr lang="en"/>
              <a:t>disclose that this is not a mature, medical model.</a:t>
            </a:r>
            <a:endParaRPr/>
          </a:p>
          <a:p>
            <a:pPr indent="-325755" lvl="0" marL="457200" rtl="0" algn="l">
              <a:spcBef>
                <a:spcPts val="0"/>
              </a:spcBef>
              <a:spcAft>
                <a:spcPts val="0"/>
              </a:spcAft>
              <a:buSzPct val="100000"/>
              <a:buChar char="●"/>
            </a:pPr>
            <a:r>
              <a:rPr lang="en"/>
              <a:t>User inputs and results can not be secretly stored, sold, or used for ulterior motives.</a:t>
            </a:r>
            <a:endParaRPr/>
          </a:p>
          <a:p>
            <a:pPr indent="0" lvl="0" marL="0" rtl="0" algn="l">
              <a:spcBef>
                <a:spcPts val="1200"/>
              </a:spcBef>
              <a:spcAft>
                <a:spcPts val="0"/>
              </a:spcAft>
              <a:buNone/>
            </a:pPr>
            <a:r>
              <a:rPr lang="en"/>
              <a:t>Limitations:</a:t>
            </a:r>
            <a:endParaRPr/>
          </a:p>
          <a:p>
            <a:pPr indent="-325755" lvl="0" marL="457200" rtl="0" algn="l">
              <a:spcBef>
                <a:spcPts val="1200"/>
              </a:spcBef>
              <a:spcAft>
                <a:spcPts val="0"/>
              </a:spcAft>
              <a:buSzPct val="100000"/>
              <a:buChar char="●"/>
            </a:pPr>
            <a:r>
              <a:rPr lang="en"/>
              <a:t>Currently only trained on one data set.</a:t>
            </a:r>
            <a:endParaRPr/>
          </a:p>
          <a:p>
            <a:pPr indent="-325755" lvl="0" marL="457200" rtl="0" algn="l">
              <a:spcBef>
                <a:spcPts val="0"/>
              </a:spcBef>
              <a:spcAft>
                <a:spcPts val="0"/>
              </a:spcAft>
              <a:buSzPct val="100000"/>
              <a:buChar char="●"/>
            </a:pPr>
            <a:r>
              <a:rPr lang="en"/>
              <a:t>Not advanced </a:t>
            </a:r>
            <a:r>
              <a:rPr lang="en"/>
              <a:t>enough to be used reliably in the medical world.</a:t>
            </a:r>
            <a:endParaRPr/>
          </a:p>
          <a:p>
            <a:pPr indent="-325755" lvl="0" marL="457200" rtl="0" algn="l">
              <a:spcBef>
                <a:spcPts val="0"/>
              </a:spcBef>
              <a:spcAft>
                <a:spcPts val="0"/>
              </a:spcAft>
              <a:buSzPct val="100000"/>
              <a:buChar char="●"/>
            </a:pPr>
            <a:r>
              <a:rPr lang="en"/>
              <a:t>Users may unintentionally input incorrect data; it cannot catch mistakes.</a:t>
            </a:r>
            <a:br>
              <a:rPr lang="en"/>
            </a:br>
            <a:endParaRPr/>
          </a:p>
          <a:p>
            <a:pPr indent="0" lvl="0" marL="0" rtl="0" algn="l">
              <a:spcBef>
                <a:spcPts val="1200"/>
              </a:spcBef>
              <a:spcAft>
                <a:spcPts val="0"/>
              </a:spcAft>
              <a:buNone/>
            </a:pPr>
            <a:r>
              <a:rPr lang="en"/>
              <a:t>Future Extensions:</a:t>
            </a:r>
            <a:endParaRPr/>
          </a:p>
          <a:p>
            <a:pPr indent="-325755" lvl="0" marL="457200" rtl="0" algn="l">
              <a:spcBef>
                <a:spcPts val="1200"/>
              </a:spcBef>
              <a:spcAft>
                <a:spcPts val="0"/>
              </a:spcAft>
              <a:buSzPct val="100000"/>
              <a:buChar char="●"/>
            </a:pPr>
            <a:r>
              <a:rPr lang="en"/>
              <a:t>More detailed and accurate model that could grow into a professional, medical tool.</a:t>
            </a:r>
            <a:endParaRPr/>
          </a:p>
          <a:p>
            <a:pPr indent="-325755" lvl="0" marL="457200" rtl="0" algn="l">
              <a:spcBef>
                <a:spcPts val="0"/>
              </a:spcBef>
              <a:spcAft>
                <a:spcPts val="0"/>
              </a:spcAft>
              <a:buSzPct val="100000"/>
              <a:buChar char="●"/>
            </a:pPr>
            <a:r>
              <a:rPr lang="en"/>
              <a:t>Tailor to other diseases, disorders, and medical concerns.</a:t>
            </a:r>
            <a:endParaRPr/>
          </a:p>
          <a:p>
            <a:pPr indent="-325755" lvl="0" marL="457200" rtl="0" algn="l">
              <a:spcBef>
                <a:spcPts val="0"/>
              </a:spcBef>
              <a:spcAft>
                <a:spcPts val="0"/>
              </a:spcAft>
              <a:buSzPct val="100000"/>
              <a:buChar char="●"/>
            </a:pPr>
            <a:r>
              <a:rPr lang="en"/>
              <a:t>Expand to include more productive and </a:t>
            </a:r>
            <a:r>
              <a:rPr lang="en"/>
              <a:t>actionable</a:t>
            </a:r>
            <a:r>
              <a:rPr lang="en"/>
              <a:t> solutions dependant on user inputs.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140" name="Google Shape;14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Coronary Heart Disease is an incredibly important issue that some people neglect until it is too late. Although our model is not currently ready for professional use, we hope that it provides some insights regarding causes, actionable solutions, and monitoring your likelihood.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Please feel free to check it out! Stay safe, stay healthy, and make good decisions!</a:t>
            </a:r>
            <a:endParaRPr/>
          </a:p>
        </p:txBody>
      </p:sp>
      <p:pic>
        <p:nvPicPr>
          <p:cNvPr id="141" name="Google Shape;141;p21" title="qr-code (4).png"/>
          <p:cNvPicPr preferRelativeResize="0"/>
          <p:nvPr/>
        </p:nvPicPr>
        <p:blipFill>
          <a:blip r:embed="rId3">
            <a:alphaModFix/>
          </a:blip>
          <a:stretch>
            <a:fillRect/>
          </a:stretch>
        </p:blipFill>
        <p:spPr>
          <a:xfrm>
            <a:off x="7555750" y="3573845"/>
            <a:ext cx="1407650" cy="1407624"/>
          </a:xfrm>
          <a:prstGeom prst="rect">
            <a:avLst/>
          </a:prstGeom>
          <a:noFill/>
          <a:ln>
            <a:noFill/>
          </a:ln>
        </p:spPr>
      </p:pic>
      <p:sp>
        <p:nvSpPr>
          <p:cNvPr id="142" name="Google Shape;142;p21"/>
          <p:cNvSpPr txBox="1"/>
          <p:nvPr/>
        </p:nvSpPr>
        <p:spPr>
          <a:xfrm>
            <a:off x="6512200" y="4672775"/>
            <a:ext cx="10125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3"/>
                </a:solidFill>
                <a:latin typeface="Average"/>
                <a:ea typeface="Average"/>
                <a:cs typeface="Average"/>
                <a:sym typeface="Average"/>
              </a:rPr>
              <a:t>Link to app:</a:t>
            </a:r>
            <a:endParaRPr sz="1100">
              <a:solidFill>
                <a:schemeClr val="accent3"/>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148" name="Google Shape;14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Dataset</a:t>
            </a:r>
            <a:r>
              <a:rPr lang="en"/>
              <a:t> </a:t>
            </a:r>
            <a:endParaRPr/>
          </a:p>
          <a:p>
            <a:pPr indent="-342900" lvl="0" marL="457200" rtl="0" algn="l">
              <a:spcBef>
                <a:spcPts val="0"/>
              </a:spcBef>
              <a:spcAft>
                <a:spcPts val="0"/>
              </a:spcAft>
              <a:buSzPts val="1800"/>
              <a:buChar char="●"/>
            </a:pPr>
            <a:r>
              <a:rPr lang="en" u="sng">
                <a:solidFill>
                  <a:schemeClr val="hlink"/>
                </a:solidFill>
                <a:hlinkClick r:id="rId4"/>
              </a:rPr>
              <a:t>App Image</a:t>
            </a:r>
            <a:endParaRPr/>
          </a:p>
          <a:p>
            <a:pPr indent="-342900" lvl="0" marL="457200" rtl="0" algn="l">
              <a:spcBef>
                <a:spcPts val="0"/>
              </a:spcBef>
              <a:spcAft>
                <a:spcPts val="0"/>
              </a:spcAft>
              <a:buSzPts val="1800"/>
              <a:buChar char="●"/>
            </a:pPr>
            <a:r>
              <a:rPr lang="en" u="sng">
                <a:solidFill>
                  <a:schemeClr val="hlink"/>
                </a:solidFill>
                <a:hlinkClick r:id="rId5"/>
              </a:rPr>
              <a:t>Framingham Heart Study</a:t>
            </a:r>
            <a:endParaRPr/>
          </a:p>
          <a:p>
            <a:pPr indent="0" lvl="0" marL="45720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Average"/>
                <a:ea typeface="Average"/>
                <a:cs typeface="Average"/>
                <a:sym typeface="Average"/>
              </a:rPr>
              <a:t>Thank You!</a:t>
            </a:r>
            <a:endParaRPr>
              <a:latin typeface="Average"/>
              <a:ea typeface="Average"/>
              <a:cs typeface="Average"/>
              <a:sym typeface="Average"/>
            </a:endParaRPr>
          </a:p>
        </p:txBody>
      </p:sp>
      <p:pic>
        <p:nvPicPr>
          <p:cNvPr id="154" name="Google Shape;154;p23" title="qr-code (4).png"/>
          <p:cNvPicPr preferRelativeResize="0"/>
          <p:nvPr/>
        </p:nvPicPr>
        <p:blipFill>
          <a:blip r:embed="rId3">
            <a:alphaModFix/>
          </a:blip>
          <a:stretch>
            <a:fillRect/>
          </a:stretch>
        </p:blipFill>
        <p:spPr>
          <a:xfrm>
            <a:off x="7555750" y="3573845"/>
            <a:ext cx="1407650" cy="1407624"/>
          </a:xfrm>
          <a:prstGeom prst="rect">
            <a:avLst/>
          </a:prstGeom>
          <a:noFill/>
          <a:ln>
            <a:noFill/>
          </a:ln>
        </p:spPr>
      </p:pic>
      <p:sp>
        <p:nvSpPr>
          <p:cNvPr id="155" name="Google Shape;155;p23"/>
          <p:cNvSpPr txBox="1"/>
          <p:nvPr/>
        </p:nvSpPr>
        <p:spPr>
          <a:xfrm>
            <a:off x="6512200" y="4672775"/>
            <a:ext cx="10125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3"/>
                </a:solidFill>
                <a:latin typeface="Average"/>
                <a:ea typeface="Average"/>
                <a:cs typeface="Average"/>
                <a:sym typeface="Average"/>
              </a:rPr>
              <a:t>Link to app:</a:t>
            </a:r>
            <a:endParaRPr sz="1100">
              <a:solidFill>
                <a:schemeClr val="accent3"/>
              </a:solidFill>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